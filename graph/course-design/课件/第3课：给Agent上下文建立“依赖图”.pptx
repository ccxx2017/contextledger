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125" autoAdjust="0"/>
  </p:normalViewPr>
  <p:slideViewPr>
    <p:cSldViewPr snapToGrid="0">
      <p:cViewPr varScale="1">
        <p:scale>
          <a:sx n="107" d="100"/>
          <a:sy n="107" d="100"/>
        </p:scale>
        <p:origin x="51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大家好，今天我们要深入探讨一个在长任务 Agent 开发中极其关键的问题：如何管理上下文。过去我们只是简单地堆叠聊天记录，今天我们将提出一种全新的思维模型——给 Agent 上下文建立显式的“依赖图”，即 Logic Graph。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目前的上下文压缩技术（如 Prompt Compression）大多是从 token 数量和新旧程度出发的工程化处理。但这对于需要完成复杂任务的 Agent 来说是不够的。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 Agent 需要知道“为什么”，需要知道每一个决策背后的依据。如果剪掉了关键的前提（比如用户最初的一个硬约束），即使保留了最新的聊天记录，AI 也可能犯错。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线性记录最大的问题是“信息过载”和“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因果模糊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”。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我们必须把一团乱麻的对话，梳理成清晰的有向无环图。只有这样，Agent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才能明白：这个文件修改是为了满足那个决策，而那个决策又是基于这个工具结果和那个用户约束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我们需要明确 Logic Graph 的边界。它不是要去做“可解释性 AI（XAI）”中那种深入模型内部神经元的探索。它是面向工程的，它记录的是 Agent “说了什么”、“做了什么”、“收到了什么结果”以及这些可观察行为之间的显式逻辑链条。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我们在第3讲中回顾了 Karpathy 的 Micrograd。它的核心思想是每一个数值（Value）都记得自己是怎么来的，依赖哪些前置数值。我们将这个强大的思想移植到 LLM 的上下文管理中。Micrograd 管理的是浮点数之间的计算依赖，Logic Graph 管理的是文本和状态之间的逻辑依赖。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这个类比可以帮助我们理解 Logic Graph 的具体运作。任务向前推进就像是计算。当一个前提（比如约束）改变时，就像是有一个“负梯度”传导下来，导致下游所有的决策和修改都需要重新校验。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这就是我们设计的最小数据结构。核心在于 prev_nodes，它是一个集合，存储了该节点所有直接依赖的节点指针。通过它，我们就能在任意节点追溯到它的根源。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对节点进行分类非常重要。因为我们对不同类型的节点有不同的管理策略。比如，`GoalNode` 和 `ConstraintNode` 通常是绝对不能被剪裁掉的，而 `ToolResultNode` 如果太大，可以考虑外置存储。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边不仅连接节点，还带有语义。通过这些语义，我们的系统（非 LLM 的程序逻辑）就能更好地自动化管理图结构。比如，当我们决定修改架构时，系统会根据 constrains 关系自动去找最初的用户约束；当一个测试结果出来后，系统可以通过 supports 关系自动去强化或支撑相应的结论。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 Logic Graph 最直接的应用。通过图结构，我们可以做到极其精准的上下文裁剪。只要它还在当前任务的依赖链上，无论多旧，都要保留；如果某些对话只是旁支，即使它是昨天才聊的，也可以被安全压缩或丢弃。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我们不能只用“删”或“不删”来管理。节点有很多种状态。比如，用户修改了硬约束，下游受影响的节点不能直接删掉，而要标记为 invalidated，Agent 需要在下一步中对这些节点进行重新校验或重写。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 Logic Graph 最像 Micrograd（反向传播）的一点。如果用户改变了想法（前提变化），受影响的节点必须像梯度一样反向传导下去。线性上下文中，AI 经常犯错是因为它忘了旧约束已被新约束覆盖，它会用新的“Node.js”想法试图修改旧的“Python”代码，从而导致严重混乱。失效传播能防止这种情况。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我们之前详细研究过 Claude Code 的 Compact（压缩）功能。它是一个工程上极其出色的“执行者”，它知道怎么压，压多少。而 Logic Graph 更像是一个“架构师”或“决策者”，它告诉 Compact：“你应该压这个，不应该压那个；这个旧约束千万不能压”。两者结合，才是最完美的上下文管理。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这是我们第3讲中的那个案例，今天我们把它转换成了 Logic Graph。AI 决定把 F2 改成 Z，不仅是因为工具报告说“F2 不方便”，更源头的原因是“用户目标”和“约束1（孩子只能按一个键）”。没有这张图，AI 很容易把“F2 改成 Z”变成一个没有根源的“Thought”，并在压缩时遗忘为什么。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让我们总结今天的核心。对于长任务，不要再把上下文看作是一团线性的“聊天记录”。我们必须显式地去记录任务中的目标、约束、决策、行动、结果及其它们之间的依赖。这是把 AI 从一个简单的对答者变成可靠的工作代理的关键所在。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光谈理论是不够的。下一讲，我们将进行第一阶段的 PoC（概念验证）。我们要让 LLM 具备自动输出结构化 ContextNode 和 depends_on 的能力，并尝试构建并显示第一张属于 AI Agent 的 Logic Graph。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感谢大家的聆听，现在是问答环节，欢迎大家提问。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37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49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2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6.svg"/><Relationship Id="rId4" Type="http://schemas.openxmlformats.org/officeDocument/2006/relationships/image" Target="../media/image30.svg"/><Relationship Id="rId9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 dirty="0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给 Agent </a:t>
            </a:r>
            <a:r>
              <a:rPr lang="en-US" sz="6000" b="1" i="0" u="none" strike="noStrike" dirty="0" err="1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上下文建立“依赖图</a:t>
            </a:r>
            <a:r>
              <a:rPr lang="en-US" sz="6000" b="1" i="0" u="none" strike="noStrike" dirty="0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用 Logic Graph 管理长任务中的目标、约束、工具结果与文件变更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AGENT ARCHITECTURE SERIES · 01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上下文压缩：从“摘要”到“依赖追踪”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78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52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4D4F"/>
                </a:solidFill>
                <a:latin typeface="Noto Sans SC"/>
                <a:ea typeface="Noto Sans SC"/>
                <a:cs typeface="Noto Sans SC"/>
                <a:sym typeface="Noto Sans SC"/>
              </a:rPr>
              <a:t>普通上下文压缩通常只关心：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400" b="0" i="0" u="none" strike="noStrike" dirty="0" err="1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哪些内容比较旧，是否可以直接舍弃</a:t>
            </a:r>
            <a:r>
              <a:rPr lang="en-US" sz="14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1400" b="0" i="0" u="none" strike="noStrike" dirty="0" err="1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哪些内容比较新，需要优先保留</a:t>
            </a:r>
            <a:r>
              <a:rPr lang="en-US" sz="14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sz="1400" b="0" i="0" u="none" strike="noStrike" dirty="0" err="1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哪些内容信息密度低，可以做文本摘要</a:t>
            </a:r>
            <a:r>
              <a:rPr lang="en-US" sz="14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4. </a:t>
            </a:r>
            <a:r>
              <a:rPr lang="en-US" sz="1400" b="0" i="0" u="none" strike="noStrike" dirty="0" err="1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哪些内容是关键信息，需要原样保留</a:t>
            </a:r>
            <a:r>
              <a:rPr lang="en-US" sz="14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778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752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但在长任务 Agent 中，更重要的是：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5400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当前结论依赖了哪些</a:t>
            </a:r>
            <a:r>
              <a:rPr lang="en-US" sz="1300" b="1" i="0" u="none" strike="noStrike" dirty="0" err="1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用户目标</a:t>
            </a:r>
            <a:r>
              <a:rPr lang="en-US" sz="13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当前方案受哪些</a:t>
            </a:r>
            <a:r>
              <a:rPr lang="en-US" sz="1300" b="1" i="0" u="none" strike="noStrike" dirty="0" err="1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约束限制</a:t>
            </a:r>
            <a:r>
              <a:rPr lang="en-US" sz="13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哪些</a:t>
            </a:r>
            <a:r>
              <a:rPr lang="en-US" sz="1300" b="1" i="0" u="none" strike="noStrike" dirty="0" err="1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工具结果</a:t>
            </a:r>
            <a:r>
              <a:rPr lang="en-US" sz="1300" b="0" i="0" u="none" strike="noStrike" dirty="0" err="1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支撑了这个决策</a:t>
            </a:r>
            <a:r>
              <a:rPr lang="en-US" sz="13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哪些</a:t>
            </a:r>
            <a:r>
              <a:rPr lang="en-US" sz="1300" b="1" i="0" u="none" strike="noStrike" dirty="0" err="1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文件修改</a:t>
            </a:r>
            <a:r>
              <a:rPr lang="en-US" sz="1300" b="0" i="0" u="none" strike="noStrike" dirty="0" err="1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影响了最终答案</a:t>
            </a:r>
            <a:r>
              <a:rPr lang="en-US" sz="13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如果前提条件发生变化，哪些下游内容会失效</a:t>
            </a:r>
            <a:r>
              <a:rPr lang="en-US" sz="1300" b="0" i="0" u="none" strike="noStrike" dirty="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5461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长任务 Agent 需要的不只是摘要，而是可追踪的上下文依赖关系。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从线性记录到任务依赖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A5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2500" y="1524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普通聊天记录是线性的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用户说 A → AI 回答 B → 用户补充 C → AI 修改 D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单一维度的信息流动，缺乏对任务目标的聚焦和结构化关联。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6223000" y="1397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A5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413500" y="1524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真实任务是依赖网络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目标 → 约束 → 工具结果 → 决策 → 文件修改 → 最终答复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多源信息汇聚于关键决策节点，形成有向无环的逻辑依赖图。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A5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线性记录 (过去)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937000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5A5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用户说A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1500" y="41275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349500" y="3937000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5A5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AI回答B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0" y="4127500"/>
            <a:ext cx="381000" cy="381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746500" y="3937000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5A5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用户补充C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41275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223000" y="30480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A5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13500" y="317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任务依赖 (Logic Graph)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3937000"/>
            <a:ext cx="762000" cy="635000"/>
          </a:xfrm>
          <a:prstGeom prst="roundRect">
            <a:avLst>
              <a:gd name="adj" fmla="val 12000"/>
            </a:avLst>
          </a:prstGeom>
          <a:solidFill>
            <a:srgbClr val="5A5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3937000"/>
            <a:ext cx="762000" cy="635000"/>
          </a:xfrm>
          <a:prstGeom prst="roundRect">
            <a:avLst>
              <a:gd name="adj" fmla="val 12000"/>
            </a:avLst>
          </a:prstGeom>
          <a:solidFill>
            <a:srgbClr val="5A5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约束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8500" y="3937000"/>
            <a:ext cx="762000" cy="635000"/>
          </a:xfrm>
          <a:prstGeom prst="roundRect">
            <a:avLst>
              <a:gd name="adj" fmla="val 12000"/>
            </a:avLst>
          </a:prstGeom>
          <a:solidFill>
            <a:srgbClr val="5A5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工具结果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71000" y="3937000"/>
            <a:ext cx="762000" cy="635000"/>
          </a:xfrm>
          <a:prstGeom prst="roundRect">
            <a:avLst>
              <a:gd name="adj" fmla="val 12000"/>
            </a:avLst>
          </a:prstGeom>
          <a:solidFill>
            <a:srgbClr val="5A5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决策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287000" y="3937000"/>
            <a:ext cx="1016000" cy="635000"/>
          </a:xfrm>
          <a:prstGeom prst="roundRect">
            <a:avLst>
              <a:gd name="adj" fmla="val 1200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最终答复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 的目标，是把聊天记录转换成任务依赖图。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Graph：界定边界与价值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9558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9050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4D4F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 不是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794000"/>
            <a:ext cx="4597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❌ 还原模型内部的真实推理过程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5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❌ 读取 AI 的深层“内心想法”或黑盒逻辑</a:t>
            </a:r>
          </a:p>
          <a:p>
            <a:pPr indent="0" algn="l">
              <a:lnSpc>
                <a:spcPct val="133333"/>
              </a:lnSpc>
            </a:pPr>
            <a:r>
              <a:rPr lang="en-US" sz="15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❌ 证明 AI 具体是怎么一步步思考的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800" y="19558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9050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 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27800" y="2794000"/>
            <a:ext cx="45974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✅ 记录 Agent 在执行任务过程中的所有</a:t>
            </a:r>
            <a:r>
              <a:rPr lang="en-US" sz="15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可观察信息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✅ 记录最终答案依赖了哪些</a:t>
            </a:r>
            <a:r>
              <a:rPr lang="en-US" sz="15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目标、约束、工具结果与文件变更</a:t>
            </a:r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✅ 帮助系统判断上下文：</a:t>
            </a:r>
            <a:r>
              <a:rPr lang="en-US" sz="15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必须保留 / 可以压缩 / 已经失效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5486400"/>
            <a:ext cx="1066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不追踪模型内部思维，只追踪可观察的任务依赖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从数值依赖到逻辑依赖：架构的进化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667000"/>
          </a:xfrm>
          <a:prstGeom prst="roundRect">
            <a:avLst>
              <a:gd name="adj" fmla="val 3809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60606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Micrograd ：管理数值计算依赖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762000" cy="508000"/>
          </a:xfrm>
          <a:prstGeom prst="roundRect">
            <a:avLst>
              <a:gd name="adj" fmla="val 10000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v1 (Val)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2413000"/>
            <a:ext cx="762000" cy="508000"/>
          </a:xfrm>
          <a:prstGeom prst="roundRect">
            <a:avLst>
              <a:gd name="adj" fmla="val 10000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v2 (Val)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921000" y="2413000"/>
            <a:ext cx="762000" cy="508000"/>
          </a:xfrm>
          <a:prstGeom prst="roundRect">
            <a:avLst>
              <a:gd name="adj" fmla="val 10000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+ (Op)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064000" y="2413000"/>
            <a:ext cx="762000" cy="508000"/>
          </a:xfrm>
          <a:prstGeom prst="roundRect">
            <a:avLst>
              <a:gd name="adj" fmla="val 10000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 (Op)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21000" y="3302000"/>
            <a:ext cx="1905000" cy="571500"/>
          </a:xfrm>
          <a:prstGeom prst="roundRect">
            <a:avLst>
              <a:gd name="adj" fmla="val 8888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v5 (Loss) 最终结果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2667000"/>
          </a:xfrm>
          <a:prstGeom prst="roundRect">
            <a:avLst>
              <a:gd name="adj" fmla="val 3809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60606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Graph：管理任务上下文依赖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413000"/>
            <a:ext cx="889000" cy="508000"/>
          </a:xfrm>
          <a:prstGeom prst="roundRect">
            <a:avLst>
              <a:gd name="adj" fmla="val 10000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Goal 目标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493000" y="2413000"/>
            <a:ext cx="889000" cy="508000"/>
          </a:xfrm>
          <a:prstGeom prst="roundRect">
            <a:avLst>
              <a:gd name="adj" fmla="val 10000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Constraint 约束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509000" y="2413000"/>
            <a:ext cx="889000" cy="508000"/>
          </a:xfrm>
          <a:prstGeom prst="roundRect">
            <a:avLst>
              <a:gd name="adj" fmla="val 10000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ToolRes 结果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652000" y="2413000"/>
            <a:ext cx="1016000" cy="508000"/>
          </a:xfrm>
          <a:prstGeom prst="roundRect">
            <a:avLst>
              <a:gd name="adj" fmla="val 10000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Decision 决策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493000" y="3302000"/>
            <a:ext cx="3175000" cy="571500"/>
          </a:xfrm>
          <a:prstGeom prst="roundRect">
            <a:avLst>
              <a:gd name="adj" fmla="val 8888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Answer (最终答复) 最终状态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445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Micrograd 将数值包装成 Value 对象，记录每一步的计算来源，从而支持复杂的自动微分与反向传播，解决深度学习的梯度计算问题。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445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 将任务上下文包装成</a:t>
            </a:r>
            <a:r>
              <a:rPr lang="en-US" sz="13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ContextNode</a:t>
            </a:r>
            <a:r>
              <a:rPr lang="en-US" sz="13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，建立节点间的逻辑与状态依赖，实现上下文的压缩、历史追溯和失效时的状态自动回滚与重新传播。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8571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571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Micrograd 管理计算依赖 • Logic Graph 管理任务上下文依赖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Micrograd vs Logic Graph：核心机制类比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762000"/>
          </a:xfrm>
          <a:prstGeom prst="roundRect">
            <a:avLst>
              <a:gd name="adj" fmla="val 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Micrograd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5400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数值计算节点 ·</a:t>
            </a:r>
            <a:r>
              <a:rPr lang="en-US" sz="16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Value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计算依赖</a:t>
            </a:r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核心流程：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前向计算 (Forward Pass)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反向传播 (Backpropagation)</a:t>
            </a:r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影响机制：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梯度影响 (Gradient Influence)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762000"/>
          </a:xfrm>
          <a:prstGeom prst="roundRect">
            <a:avLst>
              <a:gd name="adj" fmla="val 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25400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上下文节点 ·</a:t>
            </a:r>
            <a:r>
              <a:rPr lang="en-US" sz="16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ContextNode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任务依赖 (Task Dependency)</a:t>
            </a:r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核心流程：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任务推进 (Thought → Action → Observation)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依赖追溯 / 失效传播</a:t>
            </a:r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影响机制：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上下文重要性 / 保留优先级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5461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我们不是复制 Micrograd，而是借用“显式依赖图”的思想。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ContextNode：Logic Graph 最小单元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4B556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ContextNode</a:t>
            </a:r>
            <a:r>
              <a:rPr lang="en-US" sz="16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lang="en-US" sz="1100"/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en-US" sz="16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2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# 节点内容 (文本/结果/Diff)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prev_nodes</a:t>
            </a:r>
            <a:r>
              <a:rPr lang="en-US" sz="16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2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# 依赖的前置节点集合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operation_type</a:t>
            </a:r>
            <a:r>
              <a:rPr lang="en-US" sz="16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2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# 生成方式 (user/tool/decision)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node_type</a:t>
            </a:r>
            <a:r>
              <a:rPr lang="en-US" sz="16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2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# 节点类型 (Goal/Constraint/Decision)</a:t>
            </a:r>
          </a:p>
          <a:p>
            <a:pPr marL="25400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metadata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sp>
        <p:nvSpPr>
          <p:cNvPr id="5" name="AutoShape 5"/>
          <p:cNvSpPr/>
          <p:nvPr/>
        </p:nvSpPr>
        <p:spPr>
          <a:xfrm>
            <a:off x="6350000" y="1651000"/>
            <a:ext cx="5080000" cy="609600"/>
          </a:xfrm>
          <a:prstGeom prst="roundRect">
            <a:avLst>
              <a:gd name="adj" fmla="val 16666"/>
            </a:avLst>
          </a:prstGeom>
          <a:solidFill>
            <a:srgbClr val="4040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540500" y="17272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节点的具体内容。如：约束文本、工具返回结果、代码 Diff 等。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2413000"/>
            <a:ext cx="5080000" cy="609600"/>
          </a:xfrm>
          <a:prstGeom prst="roundRect">
            <a:avLst>
              <a:gd name="adj" fmla="val 16666"/>
            </a:avLst>
          </a:prstGeom>
          <a:solidFill>
            <a:srgbClr val="4040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540500" y="24892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prev_nodes：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当前节点所依赖的</a:t>
            </a: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前置节点集合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，构成 DAG 图的有向边。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3175000"/>
            <a:ext cx="5080000" cy="609600"/>
          </a:xfrm>
          <a:prstGeom prst="roundRect">
            <a:avLst>
              <a:gd name="adj" fmla="val 16666"/>
            </a:avLst>
          </a:prstGeom>
          <a:solidFill>
            <a:srgbClr val="4040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540500" y="32512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operation_type：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标记节点的生成来源，如：用户输入、工具调用结果、决策分支。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3937000"/>
            <a:ext cx="5080000" cy="609600"/>
          </a:xfrm>
          <a:prstGeom prst="roundRect">
            <a:avLst>
              <a:gd name="adj" fmla="val 16666"/>
            </a:avLst>
          </a:prstGeom>
          <a:solidFill>
            <a:srgbClr val="4040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40500" y="40132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node_type：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定义节点的语义类型，如：目标节点、约束节点、决策节点等。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4699000"/>
            <a:ext cx="5080000" cy="609600"/>
          </a:xfrm>
          <a:prstGeom prst="roundRect">
            <a:avLst>
              <a:gd name="adj" fmla="val 16666"/>
            </a:avLst>
          </a:prstGeom>
          <a:solidFill>
            <a:srgbClr val="4040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540500" y="47752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metadata：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存储各类附加元数据，如：创建时间戳、数据来源、Token 消耗数等。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57404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ContextNode 是 Logic Graph 的最小记录单元。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核心节点类型概览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2590800" cy="2032000"/>
          </a:xfrm>
          <a:prstGeom prst="roundRect">
            <a:avLst>
              <a:gd name="adj" fmla="val 5000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9A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9900" y="1714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476500"/>
            <a:ext cx="2336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GoalNode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记录用户核心目标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任务拆解的起点</a:t>
            </a:r>
          </a:p>
        </p:txBody>
      </p:sp>
      <p:sp>
        <p:nvSpPr>
          <p:cNvPr id="6" name="AutoShape 6"/>
          <p:cNvSpPr/>
          <p:nvPr/>
        </p:nvSpPr>
        <p:spPr>
          <a:xfrm>
            <a:off x="3505200" y="1524000"/>
            <a:ext cx="2590800" cy="2032000"/>
          </a:xfrm>
          <a:prstGeom prst="roundRect">
            <a:avLst>
              <a:gd name="adj" fmla="val 5000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9A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3100" y="1714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632200" y="2476500"/>
            <a:ext cx="2336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ConstraintNode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记录任务执行的约束条件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及系统能力的边界</a:t>
            </a:r>
          </a:p>
        </p:txBody>
      </p:sp>
      <p:sp>
        <p:nvSpPr>
          <p:cNvPr id="9" name="AutoShape 9"/>
          <p:cNvSpPr/>
          <p:nvPr/>
        </p:nvSpPr>
        <p:spPr>
          <a:xfrm>
            <a:off x="6248400" y="1524000"/>
            <a:ext cx="2590800" cy="2032000"/>
          </a:xfrm>
          <a:prstGeom prst="roundRect">
            <a:avLst>
              <a:gd name="adj" fmla="val 5000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9A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26300" y="1714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375400" y="2476500"/>
            <a:ext cx="2336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ToolResultNode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记录外部工具调用结果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(Shell / Search / API)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991600" y="1524000"/>
            <a:ext cx="2590800" cy="2032000"/>
          </a:xfrm>
          <a:prstGeom prst="roundRect">
            <a:avLst>
              <a:gd name="adj" fmla="val 5000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9A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69500" y="1714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118600" y="2476500"/>
            <a:ext cx="2336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FileNode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承载文件完整内容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或关键文件路径索引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3810000"/>
            <a:ext cx="2590800" cy="2032000"/>
          </a:xfrm>
          <a:prstGeom prst="roundRect">
            <a:avLst>
              <a:gd name="adj" fmla="val 5000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9A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39900" y="4000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" y="4762500"/>
            <a:ext cx="2336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FileChangeNode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记录代码/文档的增量修改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类似 Git Diff 记录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505200" y="3810000"/>
            <a:ext cx="2590800" cy="2032000"/>
          </a:xfrm>
          <a:prstGeom prst="roundRect">
            <a:avLst>
              <a:gd name="adj" fmla="val 5000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9A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83100" y="40005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3632200" y="4762500"/>
            <a:ext cx="2336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DecisionNode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记录关键路径的阶段性决策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以及选择背后的逻辑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48400" y="3810000"/>
            <a:ext cx="2590800" cy="2032000"/>
          </a:xfrm>
          <a:prstGeom prst="roundRect">
            <a:avLst>
              <a:gd name="adj" fmla="val 5000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9A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26300" y="40005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375400" y="4762500"/>
            <a:ext cx="2336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SummaryNode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压缩冗长的执行上下文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提炼高价值关键信息</a:t>
            </a:r>
          </a:p>
        </p:txBody>
      </p:sp>
      <p:sp>
        <p:nvSpPr>
          <p:cNvPr id="24" name="AutoShape 24"/>
          <p:cNvSpPr/>
          <p:nvPr/>
        </p:nvSpPr>
        <p:spPr>
          <a:xfrm>
            <a:off x="8991600" y="3810000"/>
            <a:ext cx="2590800" cy="2032000"/>
          </a:xfrm>
          <a:prstGeom prst="roundRect">
            <a:avLst>
              <a:gd name="adj" fmla="val 5000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9A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969500" y="4000500"/>
            <a:ext cx="609600" cy="609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118600" y="4762500"/>
            <a:ext cx="2336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AnswerNode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整理并生成最终的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结构化答复内容</a:t>
            </a:r>
          </a:p>
        </p:txBody>
      </p:sp>
      <p:sp>
        <p:nvSpPr>
          <p:cNvPr id="27" name="AutoShape 27"/>
          <p:cNvSpPr/>
          <p:nvPr/>
        </p:nvSpPr>
        <p:spPr>
          <a:xfrm>
            <a:off x="762000" y="5969000"/>
            <a:ext cx="10820400" cy="685800"/>
          </a:xfrm>
          <a:prstGeom prst="roundRect">
            <a:avLst>
              <a:gd name="adj" fmla="val 18518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62000" y="5969000"/>
            <a:ext cx="108204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不同类型的节点，承担不同的上下文管理职责。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图关系语义：连接的深层含义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667000" cy="1714500"/>
          </a:xfrm>
          <a:prstGeom prst="roundRect">
            <a:avLst>
              <a:gd name="adj" fmla="val 8888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41500"/>
            <a:ext cx="1714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depends_on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当前节点依赖另一个节点（通用）</a:t>
            </a:r>
          </a:p>
        </p:txBody>
      </p:sp>
      <p:sp>
        <p:nvSpPr>
          <p:cNvPr id="6" name="AutoShape 6"/>
          <p:cNvSpPr/>
          <p:nvPr/>
        </p:nvSpPr>
        <p:spPr>
          <a:xfrm>
            <a:off x="3683000" y="1651000"/>
            <a:ext cx="2667000" cy="1714500"/>
          </a:xfrm>
          <a:prstGeom prst="roundRect">
            <a:avLst>
              <a:gd name="adj" fmla="val 8888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3500" y="1905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445000" y="1841500"/>
            <a:ext cx="1714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constrains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某个</a:t>
            </a: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约束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限制了某个</a:t>
            </a: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决策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的范围或选择</a:t>
            </a:r>
          </a:p>
        </p:txBody>
      </p:sp>
      <p:sp>
        <p:nvSpPr>
          <p:cNvPr id="9" name="AutoShape 9"/>
          <p:cNvSpPr/>
          <p:nvPr/>
        </p:nvSpPr>
        <p:spPr>
          <a:xfrm>
            <a:off x="6604000" y="1651000"/>
            <a:ext cx="2667000" cy="1714500"/>
          </a:xfrm>
          <a:prstGeom prst="roundRect">
            <a:avLst>
              <a:gd name="adj" fmla="val 8888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500" y="190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1841500"/>
            <a:ext cx="1714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supports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某个</a:t>
            </a: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工具结果/证据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支持了某个</a:t>
            </a: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2667000" cy="1714500"/>
          </a:xfrm>
          <a:prstGeom prst="roundRect">
            <a:avLst>
              <a:gd name="adj" fmla="val 8888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3937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3873500"/>
            <a:ext cx="1714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produces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某个操作或任务产生了某个文件修改或结果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683000" y="3683000"/>
            <a:ext cx="2667000" cy="1714500"/>
          </a:xfrm>
          <a:prstGeom prst="roundRect">
            <a:avLst>
              <a:gd name="adj" fmla="val 8888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73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445000" y="3873500"/>
            <a:ext cx="1714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summarizes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某个摘要节点压缩了多个原始节点的信息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604000" y="3683000"/>
            <a:ext cx="2667000" cy="1714500"/>
          </a:xfrm>
          <a:prstGeom prst="roundRect">
            <a:avLst>
              <a:gd name="adj" fmla="val 8888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94500" y="3937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366000" y="3873500"/>
            <a:ext cx="1714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invalidates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新的信息或节点使旧的结论或节点不再有效</a:t>
            </a:r>
          </a:p>
        </p:txBody>
      </p:sp>
      <p:sp>
        <p:nvSpPr>
          <p:cNvPr id="21" name="AutoShape 21"/>
          <p:cNvSpPr/>
          <p:nvPr/>
        </p:nvSpPr>
        <p:spPr>
          <a:xfrm>
            <a:off x="9525000" y="1651000"/>
            <a:ext cx="2286000" cy="3746500"/>
          </a:xfrm>
          <a:prstGeom prst="roundRect">
            <a:avLst>
              <a:gd name="adj" fmla="val 6666"/>
            </a:avLst>
          </a:prstGeom>
          <a:solidFill>
            <a:srgbClr val="2A2A2A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652000" y="1841500"/>
            <a:ext cx="2032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场景示例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“必须使用 Python 3.9”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↳ [ constrains ]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“选择 FastAPI 作为后端框架”</a:t>
            </a:r>
          </a:p>
          <a:p>
            <a:pPr indent="0" algn="l">
              <a:lnSpc>
                <a:spcPct val="116666"/>
              </a:lnSpc>
              <a:spcBef>
                <a:spcPts val="20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“CI/CD 测试失败日志”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↳ [ supports ]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“需要修改认证逻辑”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651500"/>
            <a:ext cx="11049000" cy="889000"/>
          </a:xfrm>
          <a:prstGeom prst="roundRect">
            <a:avLst>
              <a:gd name="adj" fmla="val 11428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89000" y="57785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“边让系统知道：一个结论为什么存在，以及它可能因为什么而失效。”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智能上下文裁剪：线性 vs 依赖感知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普通压缩 (线性策略)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2159000" cy="1778000"/>
          </a:xfrm>
          <a:prstGeom prst="roundRect">
            <a:avLst>
              <a:gd name="adj" fmla="val 5714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2730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2730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历史/旧内容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06500" y="3429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按时间远近判断</a:t>
            </a:r>
            <a:br>
              <a:rPr lang="en-US" sz="13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→ 生成摘要 (变模糊)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2540000"/>
            <a:ext cx="2159000" cy="1778000"/>
          </a:xfrm>
          <a:prstGeom prst="roundRect">
            <a:avLst>
              <a:gd name="adj" fmla="val 5714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6500" y="2730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254500" y="2730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最新/新内容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746500" y="3429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默认判定为关键信息</a:t>
            </a:r>
            <a:b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→ 完整保留 (无压缩)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572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缺陷：无法识别信息重要性与新旧无关的场景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524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1778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 压缩 (依赖感知)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2540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25146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当前目标依赖链：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原样保留 (无论时间早晚)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048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0226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关键约束条件：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强制保留 (确保逻辑闭环)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3556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35306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工具调用大结果：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外置存储，仅保留引用链接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0640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58000" y="40386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旁支/发散讨论：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自动摘要化，精简处理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45720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58000" y="45466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无依赖的孤立内容：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直接丢弃，节省Token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7000" y="50800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58000" y="50546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前提已发生变化的内容：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标记为“失效”并剔除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715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62000" y="5905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不是“越新的越重要”，而是“当前任务依赖的最重要”。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节点状态体系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2500" y="1778000"/>
            <a:ext cx="76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16510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ACTIVE / 活跃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当前任务仍然依赖，必须保留在 prompt 中。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175000"/>
            <a:ext cx="76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841500" y="30480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DORMANT / 休眠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暂时不用，但未来可能恢复（如：非当前任务的子目标）。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318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4572000"/>
            <a:ext cx="76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841500" y="44450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SUMMARIZED / 摘要化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已被摘要节点替代，原节点移出 active 区域。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524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13500" y="1778000"/>
            <a:ext cx="76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⚪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302500" y="16510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EXTERNAL / 外置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内容过大，已外置存储，prompt 中只保留引用或 ID。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2921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13500" y="3175000"/>
            <a:ext cx="76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✘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302500" y="30480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GARBAGE / 废弃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无依赖、无价值，可以安全丢弃。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223000" y="4318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13500" y="4572000"/>
            <a:ext cx="76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🔴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02500" y="44450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INVALIDATED / 失效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依赖的前提已经变化，需要重新检查或重写。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000" y="5715000"/>
            <a:ext cx="10668000" cy="825500"/>
          </a:xfrm>
          <a:prstGeom prst="roundRect">
            <a:avLst>
              <a:gd name="adj" fmla="val 18461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节点状态决定了上下文如何被保留、压缩、外置或丢弃。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失效传播：防止 Agent 基于过期前提工作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404040">
              <a:alpha val="100000"/>
            </a:srgbClr>
          </a:solidFill>
          <a:ln w="12700" cap="flat" cmpd="sng">
            <a:solidFill>
              <a:srgbClr val="5555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2500" y="1651000"/>
            <a:ext cx="4826000" cy="825500"/>
          </a:xfrm>
          <a:prstGeom prst="roundRect">
            <a:avLst>
              <a:gd name="adj" fmla="val 12307"/>
            </a:avLst>
          </a:prstGeom>
          <a:solidFill>
            <a:srgbClr val="4A4A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778000"/>
            <a:ext cx="4127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原约束：系统后端开发</a:t>
            </a:r>
            <a:r>
              <a:rPr lang="en-US" sz="15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必须使用 Python 语言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4826000" cy="952500"/>
          </a:xfrm>
          <a:prstGeom prst="roundRect">
            <a:avLst>
              <a:gd name="adj" fmla="val 10666"/>
            </a:avLst>
          </a:prstGeom>
          <a:solidFill>
            <a:srgbClr val="4A4A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2921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2794000"/>
            <a:ext cx="412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后续推导决策链：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选定 FastAPI 框架 → 编写 Python 核心业务代码 → 设计 Python 容器化部署方案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810000"/>
            <a:ext cx="4826000" cy="825500"/>
          </a:xfrm>
          <a:prstGeom prst="roundRect">
            <a:avLst>
              <a:gd name="adj" fmla="val 12307"/>
            </a:avLst>
          </a:prstGeom>
          <a:solidFill>
            <a:srgbClr val="4A4A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500" y="4000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937000"/>
            <a:ext cx="4127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突发变更：业务需求调整，后端</a:t>
            </a:r>
            <a:r>
              <a:rPr lang="en-US" sz="1500" b="1" i="0" u="none" strike="noStrike">
                <a:solidFill>
                  <a:srgbClr val="FF6347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必须切换为 Node.js 技术栈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4826000"/>
            <a:ext cx="4826000" cy="635000"/>
          </a:xfrm>
          <a:prstGeom prst="roundRect">
            <a:avLst>
              <a:gd name="adj" fmla="val 16000"/>
            </a:avLst>
          </a:prstGeom>
          <a:solidFill>
            <a:srgbClr val="505050">
              <a:alpha val="100000"/>
            </a:srgbClr>
          </a:solidFill>
          <a:ln w="12700" cap="flat" cmpd="sng">
            <a:solidFill>
              <a:srgbClr val="FFBF00">
                <a:alpha val="7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79500" y="4953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💡 逻辑图核心：所有依赖“Python”的下游节点将自动失效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397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404040">
              <a:alpha val="100000"/>
            </a:srgbClr>
          </a:solidFill>
          <a:ln w="12700" cap="flat" cmpd="sng">
            <a:solidFill>
              <a:srgbClr val="5555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77000" y="1651000"/>
            <a:ext cx="1016000" cy="1016000"/>
          </a:xfrm>
          <a:prstGeom prst="roundRect">
            <a:avLst>
              <a:gd name="adj" fmla="val 1000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18415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C1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必须用 Python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56500" y="1968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874000" y="1651000"/>
            <a:ext cx="1016000" cy="1016000"/>
          </a:xfrm>
          <a:prstGeom prst="roundRect">
            <a:avLst>
              <a:gd name="adj" fmla="val 10000"/>
            </a:avLst>
          </a:prstGeom>
          <a:solidFill>
            <a:srgbClr val="464646">
              <a:alpha val="100000"/>
            </a:srgbClr>
          </a:solidFill>
          <a:ln w="25400" cap="flat" cmpd="sng">
            <a:solidFill>
              <a:srgbClr val="EF4444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874000" y="18415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D1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选 FastAPI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53500" y="1968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271000" y="1651000"/>
            <a:ext cx="1016000" cy="1016000"/>
          </a:xfrm>
          <a:prstGeom prst="roundRect">
            <a:avLst>
              <a:gd name="adj" fmla="val 10000"/>
            </a:avLst>
          </a:prstGeom>
          <a:solidFill>
            <a:srgbClr val="464646">
              <a:alpha val="100000"/>
            </a:srgbClr>
          </a:solidFill>
          <a:ln w="25400" cap="flat" cmpd="sng">
            <a:solidFill>
              <a:srgbClr val="EF4444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271000" y="18415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F1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代码</a:t>
            </a:r>
          </a:p>
        </p:txBody>
      </p:sp>
      <p:sp>
        <p:nvSpPr>
          <p:cNvPr id="24" name="AutoShape 24"/>
          <p:cNvSpPr/>
          <p:nvPr/>
        </p:nvSpPr>
        <p:spPr>
          <a:xfrm>
            <a:off x="10350500" y="1651000"/>
            <a:ext cx="1016000" cy="1016000"/>
          </a:xfrm>
          <a:prstGeom prst="roundRect">
            <a:avLst>
              <a:gd name="adj" fmla="val 10000"/>
            </a:avLst>
          </a:prstGeom>
          <a:solidFill>
            <a:srgbClr val="464646">
              <a:alpha val="100000"/>
            </a:srgbClr>
          </a:solidFill>
          <a:ln w="25400" cap="flat" cmpd="sng">
            <a:solidFill>
              <a:srgbClr val="EF4444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350500" y="18415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P1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部署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2921000"/>
            <a:ext cx="4889500" cy="2159000"/>
          </a:xfrm>
          <a:prstGeom prst="roundRect">
            <a:avLst>
              <a:gd name="adj" fmla="val 4705"/>
            </a:avLst>
          </a:prstGeom>
          <a:solidFill>
            <a:srgbClr val="4A4A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667500" y="3111500"/>
            <a:ext cx="450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失效状态监测 (Invalidated)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67500" y="3683000"/>
            <a:ext cx="4508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❌ 决策节点 D1 (选择 FastAPI) →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已失效 (需重新选型)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❌ 执行节点 F1 (Python 代码) →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已失效 (需重新编码)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❌ 执行节点 P1 (Python 部署) →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已失效 (需重新设计)</a:t>
            </a:r>
          </a:p>
        </p:txBody>
      </p:sp>
      <p:sp>
        <p:nvSpPr>
          <p:cNvPr id="29" name="AutoShape 29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762000" y="5994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失效传播让 Agent 不再“带着过期前提继续工作”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Claude Code 与 Logic Graph：分工与协同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Claude Code 'Compact'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执行层 · Execution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核心关注：上下文的</a:t>
            </a: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Token 压力与成本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• 处理逻辑：当上下文过长时，自动对内容进行技术压缩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• 输出目标：生成可继续用于开发工作的高质量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内容摘要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968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决策层 · Decision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477000" y="30480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核心关注：逻辑推导的</a:t>
            </a:r>
            <a:r>
              <a:rPr lang="en-US" sz="14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正确性与可追踪性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• 处理逻辑：判断内容优先级，确定保留、摘要或外置策略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• 输出目标：识别关键依赖关系，准确判断哪些内容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已经失效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558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二者不是互斥路线，而是可以组合成“依赖感知压缩”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语音识别工具开发逻辑拆解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6002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498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🎯 目标与核心约束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开发语音识别工具；要求孩子能单键触发，且结果自动复制至剪贴板。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7432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641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工具现状反馈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当前方案使用 F2 作为触发键，需要配合 Fn 组合键，操作复杂，不符合单键约束。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38862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784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阶段性关键决策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为满足易用性要求，将触发快捷键从 F2 修改为更易操作的 Z 键。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0292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927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最终执行与产出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修改代码中的 hotkey 绑定规则，向用户交付完整的可运行修复代码。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1397000"/>
            <a:ext cx="5207000" cy="4381500"/>
          </a:xfrm>
          <a:prstGeom prst="roundRect">
            <a:avLst>
              <a:gd name="adj" fmla="val 3478"/>
            </a:avLst>
          </a:prstGeom>
          <a:solidFill>
            <a:srgbClr val="404040">
              <a:alpha val="100000"/>
            </a:srgbClr>
          </a:solidFill>
          <a:ln w="12700" cap="flat" cmpd="sng">
            <a:solidFill>
              <a:srgbClr val="5A5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77000" y="1651000"/>
            <a:ext cx="2222500" cy="1079500"/>
          </a:xfrm>
          <a:prstGeom prst="roundRect">
            <a:avLst>
              <a:gd name="adj" fmla="val 9411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540500" y="17780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输入：需求 &amp; 约束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单键触发 (Child-Friendly)</a:t>
            </a:r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自动复制结果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953500" y="1651000"/>
            <a:ext cx="2222500" cy="1079500"/>
          </a:xfrm>
          <a:prstGeom prst="roundRect">
            <a:avLst>
              <a:gd name="adj" fmla="val 9411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017000" y="17780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输入：现状分析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当前 F2 键触发困难</a:t>
            </a:r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需 Fn 组合键配合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477000" y="3048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540500" y="31750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🧠 核心决策节点 (Decision)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将触发键映射从 F2 变更为 Z 键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477000" y="4318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5555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540500" y="44450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🏁 最终产出 (Answer)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修改 Hotkey 代码并交付完整修复方案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62000" y="5969000"/>
            <a:ext cx="10668000" cy="698500"/>
          </a:xfrm>
          <a:prstGeom prst="roundRect">
            <a:avLst>
              <a:gd name="adj" fmla="val 14545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2000" y="5969000"/>
            <a:ext cx="1066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 让 Agent 的最终答复有迹可循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长任务 Agent 的核心：构建可追溯的依赖逻辑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429000" cy="1905000"/>
          </a:xfrm>
          <a:prstGeom prst="roundRect">
            <a:avLst>
              <a:gd name="adj" fmla="val 5333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2500" y="1841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1905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长任务 Agent 的问题，不只是上下文太长，而是上下文之间</a:t>
            </a:r>
            <a:r>
              <a:rPr lang="en-US" sz="13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缺少依赖结构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81500" y="1651000"/>
            <a:ext cx="3429000" cy="1905000"/>
          </a:xfrm>
          <a:prstGeom prst="roundRect">
            <a:avLst>
              <a:gd name="adj" fmla="val 5333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572000" y="1841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0" y="1905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 不是还原模型内部推理，而是记录</a:t>
            </a:r>
            <a:r>
              <a:rPr lang="en-US" sz="13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可观察的任务依赖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001000" y="1651000"/>
            <a:ext cx="3429000" cy="1905000"/>
          </a:xfrm>
          <a:prstGeom prst="roundRect">
            <a:avLst>
              <a:gd name="adj" fmla="val 5333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191500" y="1841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080500" y="1905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ContextNode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是最小记录单元，用来保存目标、约束、工具结果、文件修改和阶段性决策。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476500" y="3810000"/>
            <a:ext cx="3429000" cy="1524000"/>
          </a:xfrm>
          <a:prstGeom prst="roundRect">
            <a:avLst>
              <a:gd name="adj" fmla="val 6666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667000" y="4064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56000" y="412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依赖边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让系统知道一个结论从哪里来、受什么限制、可能因为什么失效。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3810000"/>
            <a:ext cx="3429000" cy="1524000"/>
          </a:xfrm>
          <a:prstGeom prst="roundRect">
            <a:avLst>
              <a:gd name="adj" fmla="val 6666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77000" y="40640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366000" y="4064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 可服务于</a:t>
            </a:r>
            <a:r>
              <a:rPr lang="en-US" sz="13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上下文压缩、结果溯源、失效传播和多 Agent 协作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一个强大的 Agent 不只是会回答问题，还应该能记录答案依赖了什么。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下一讲：Logic Graph 第一阶段 PoC（概念验证）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第4讲：Logic Graph 第一阶段 PoC —— 让 LLM 输出结构化上下文节点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667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2525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921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en-US" sz="15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设计 ContextNode 的 JSON Schema 数据结构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en-US" sz="15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让 LLM 从一段复杂的任务对话中自动抽取上下文节点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03.</a:t>
            </a:r>
            <a:r>
              <a:rPr lang="en-US" sz="15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在节点之间建立简单的 depends_on（依赖）逻辑关系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2667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444444">
              <a:alpha val="100000"/>
            </a:srgbClr>
          </a:solidFill>
          <a:ln w="12700" cap="flat" cmpd="sng">
            <a:solidFill>
              <a:srgbClr val="52525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2921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04.</a:t>
            </a:r>
            <a:r>
              <a:rPr lang="en-US" sz="15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输出可视化的 Logic Graph（技术选型：vis.js 或 Mermaid）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05.</a:t>
            </a:r>
            <a:r>
              <a:rPr lang="en-US" sz="15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实战：尝试用图结构辅助 AI Agent 的上下文压缩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5435600"/>
            <a:ext cx="10668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从这一讲开始，Logic Graph 不再只是概念，而要变成可运行系统。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78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88000" y="355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B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BF00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3A3A3"/>
                </a:solidFill>
                <a:latin typeface="Noto Sans SC"/>
                <a:ea typeface="Noto Sans SC"/>
                <a:cs typeface="Noto Sans SC"/>
                <a:sym typeface="Noto Sans SC"/>
              </a:rPr>
              <a:t>欢迎随时提问 | WELCOME TO QUESTION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1563</Words>
  <Application>Microsoft Office PowerPoint</Application>
  <PresentationFormat>宽屏</PresentationFormat>
  <Paragraphs>281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Noto Sans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海龙 刘</cp:lastModifiedBy>
  <cp:revision>1</cp:revision>
  <dcterms:modified xsi:type="dcterms:W3CDTF">2026-05-11T12:31:44Z</dcterms:modified>
</cp:coreProperties>
</file>