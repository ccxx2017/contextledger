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50" autoAdjust="0"/>
  </p:normalViewPr>
  <p:slideViewPr>
    <p:cSldViewPr snapToGrid="0">
      <p:cViewPr varScale="1">
        <p:scale>
          <a:sx n="86" d="100"/>
          <a:sy n="86" d="100"/>
        </p:scale>
        <p:origin x="131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6课。在上几节课中，我们学习了如何构建一个强大的任务图（TaskGraph）来记录我们的思考过程。今天，我们将解决一个核心问题：如何将这个复杂的图，转化为主LLM能够理解和执行的上下文。这节课，我们将深入探讨Context Pack Builder，学习如何从TaskGraph中提取出最关键的信息，构建一个高效的执行上下文。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回顾一下，第4课我们学会了如何“写”任务图，也就是记录我们的思考过程。那么现在问题来了，写好了之后，下一步主LLM应该看到什么？直接把整张图丢给它吗？显然不行。本课的核心，就是学习如何“读”任务图，把它转换成LLM能够高效利用的上下文。这正是我们今天要解决的痛点：任务图本身不是最终的Prompt，我们需要对它进行整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更清晰地理解，我们可以把第4课和第5课看作是读写分工。第4课解决的是“写”的问题，即如何生成和构建TaskGraph，它是系统的内部记忆。而第5课解决的是“读”的问题，即如何从TaskGraph中提取信息，生成Context Pack，这是主LLM的执行上下文。一个负责记录，一个负责提取，两者紧密配合。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我们不能直接把TaskGraph塞进Prompt呢？这里有四个主要原因。首先，它的结构非常复杂，是非线性的，LLM很难直接理解。其次，图里混杂了有效和失效的信息。第三，它没有明确的阅读顺序，LLM不知道该从哪儿开始。最后，随着任务推进，图会越来越大，不仅会消耗大量Token，还会干扰模型的注意力。所以请记住，TaskGraph是给系统看的内部结构，而Context Pack才是给主LLM看的工作上下文。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那么，谁来完成从TaskGraph到Context Pack的转换呢？答案就是Context Builder。你可以把它想象成一个翻译器。它接收TaskGraph作为输入，然后进行加工、筛选和格式化，最终输出一个结构化的Task Context Pack。这个Pack随后被注入到主LLM的Prompt中。Context Builder的核心工作，就是把复杂的图结构，翻译成LLM能够理解、执行和使用的上下文。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那么，这个Task Context Pack到底是什么呢？简单来说，它就是一个从TaskGraph中整理出来的、结构化的上下文包，专门供主LLM使用。它包含了任务的核心要素，比如目标、约束、当前决策、相关事实、待办事项，以及非常重要的已推翻方案和当前焦点。这个页面我们先建立概念，下一页会深入探讨它的具体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一个最小的Context Pack应该包含哪些部分呢？这里列出了七个关键区域。其中，current_focus是当前焦点，是最重要的，我们稍后会详细讲。其他还包括目标、约束、当前决策、事实、待办事项和已推翻历史。请记住，划分这些字段不仅仅是为了结构清晰，更重要的是为了明确区分信息的状态，从而大大降低主LLM误用旧信息或已失效方案的概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来重点看一下`current_focus`，也就是当前焦点。它的定义很简单：就是当前这一轮主LLM需要继续处理的那个节点。这个节点可以是一个待办任务，一个决策，一个新约束，或者一个目标。明确这个焦点至关重要，因为它告诉Contex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Builder应该从哪里开始读取任务图。如果没有焦点，系统就可能会漫无目的地读取整张图，效率低下且容易出错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有了焦点之后，Context Builder就知道该如何工作了。它会从`current_focus`这个节点出发，像侦探一样，在任务图中进行逻辑漫游，寻找所有相关的上下文信息。这包括这个焦点所依赖的方案、它服务的目标、必须遵守的约束、相关的事实，以及非常关键的、与之相关的已推翻历史。这个过程确保了我们只提取与当前任务最相关的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读取信息时，有一个原则至关重要：必须严格区分当前有效信息和已推翻信息。有效信息，比如当前决策，应该放在`current_decisions`里，供LLM参考和使用。而已推翻的方案，必须放在`superseded_history`里，明确告诉LLM这是一个失败的路径，需要避开。这种严格的区分，是Context Pack的关键价值之一，它能有效防止模型重复犯错，复用已经被证明无效的方案。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这里需要强调一点，Task Context Pack和我们平时理解的聊天摘要完全是两码事。聊天摘要的目的是把历史说短，它是模糊的，容易丢失细节。而Context Pack的目的是把任务状态说清楚，它是精准的，保留了所有关键信息。它不是线性文本，而是结构化的字段，方便机器读取。最重要的是，它严格区分了有效和无效信息，其核心目的不是为了“记忆”，而是为了“继续执行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那么，Context Pack是如何被主LLM使用的呢？它的输入公式很简单：系统提示词，加上我们构建的Task Context Pack，再加上用户的最新请求，三者共同构成了主LLM的完整输入。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举个例子，当用户说“帮我写RCON连接代码”时，LLM通过Context Pack已经知道了为什么要用RCON，知道了不能用SSH方案，知道了当前的目标，也知道了下一步该做什么。这让LLM的响应更加精准和高效。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学完本课，我们最终要实现的就是这样一个核心函数：`build_context_pack`。它接收一个TaskGraph和一个当前焦点ID，然后返回一个ContextPack对象。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我们的最小目标是，这个函数能够准确地从任务图中读出目标、约束、事实、决策和待办事项。而其中最关键的，是要能够正确地读出并区分已推翻的方案，确保它们被放在正确的位置，避免信息干扰。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最后，我们用三句话来总结今天的内容。第一，TaskGraph是系统的记忆，它负责存储大量的信息。第二，Context Pack是执行上下文，它负责精准地提取信息。第三，Context Builder就是连接两者的翻译器，它的工作非常出色。请大家记住，我们使用Logic Graph的最终价值，不仅仅是为了压缩Token，更重要的是通过组织任务状态，让主LLM能够更加稳定、可靠地继续工作。谢谢大家！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4.jpe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jpeg"/><Relationship Id="rId10" Type="http://schemas.openxmlformats.org/officeDocument/2006/relationships/image" Target="../media/image31.jpeg"/><Relationship Id="rId4" Type="http://schemas.openxmlformats.org/officeDocument/2006/relationships/image" Target="../media/image25.jpeg"/><Relationship Id="rId9" Type="http://schemas.openxmlformats.org/officeDocument/2006/relationships/image" Target="../media/image30.svg"/><Relationship Id="rId1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4.jpe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svg"/><Relationship Id="rId3" Type="http://schemas.openxmlformats.org/officeDocument/2006/relationships/image" Target="../media/image4.jpeg"/><Relationship Id="rId7" Type="http://schemas.openxmlformats.org/officeDocument/2006/relationships/image" Target="../media/image28.sv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57.svg"/><Relationship Id="rId5" Type="http://schemas.openxmlformats.org/officeDocument/2006/relationships/image" Target="../media/image53.svg"/><Relationship Id="rId15" Type="http://schemas.openxmlformats.org/officeDocument/2006/relationships/image" Target="../media/image61.sv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svg"/><Relationship Id="rId1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.jpe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svg"/><Relationship Id="rId3" Type="http://schemas.openxmlformats.org/officeDocument/2006/relationships/image" Target="../media/image4.jpeg"/><Relationship Id="rId7" Type="http://schemas.openxmlformats.org/officeDocument/2006/relationships/image" Target="../media/image71.sv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11" Type="http://schemas.openxmlformats.org/officeDocument/2006/relationships/image" Target="../media/image74.svg"/><Relationship Id="rId5" Type="http://schemas.openxmlformats.org/officeDocument/2006/relationships/image" Target="../media/image69.svg"/><Relationship Id="rId15" Type="http://schemas.openxmlformats.org/officeDocument/2006/relationships/image" Target="../media/image67.svg"/><Relationship Id="rId10" Type="http://schemas.openxmlformats.org/officeDocument/2006/relationships/image" Target="../media/image52.png"/><Relationship Id="rId4" Type="http://schemas.openxmlformats.org/officeDocument/2006/relationships/image" Target="../media/image68.png"/><Relationship Id="rId9" Type="http://schemas.openxmlformats.org/officeDocument/2006/relationships/image" Target="../media/image73.svg"/><Relationship Id="rId1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第5课：让任务图重新变成上下文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9ECE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 Builder：从 TaskGraph 到主 LLM Prompt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2032000" cy="1143000"/>
          </a:xfrm>
          <a:prstGeom prst="roundRect">
            <a:avLst>
              <a:gd name="adj" fmla="val 13333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5143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0" y="5080000"/>
            <a:ext cx="5080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810000" y="4826000"/>
            <a:ext cx="2032000" cy="1143000"/>
          </a:xfrm>
          <a:prstGeom prst="roundRect">
            <a:avLst>
              <a:gd name="adj" fmla="val 13333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810000" y="5143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Builder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080000"/>
            <a:ext cx="508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4826000"/>
            <a:ext cx="2032000" cy="1143000"/>
          </a:xfrm>
          <a:prstGeom prst="roundRect">
            <a:avLst>
              <a:gd name="adj" fmla="val 13333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858000" y="5143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7000" y="5080000"/>
            <a:ext cx="508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652000" y="4826000"/>
            <a:ext cx="1905000" cy="1143000"/>
          </a:xfrm>
          <a:prstGeom prst="roundRect">
            <a:avLst>
              <a:gd name="adj" fmla="val 13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652000" y="51435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 LLM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有了 TaskGraph，下一轮主 LLM 该看到什么？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6670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" y="24130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794000" y="2413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把任务过程写进 TaskGraph</a:t>
            </a:r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回顾：将复杂任务拆解，记录思考路径与决策过程。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26670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4000" y="24130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255000" y="2413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</a:t>
            </a:r>
            <a:endParaRPr lang="en-US" sz="1100" dirty="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8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把 </a:t>
            </a:r>
            <a:r>
              <a:rPr lang="en-US" sz="18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r>
              <a:rPr lang="en-US" sz="18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读成可用上下文</a:t>
            </a:r>
            <a:endParaRPr lang="en-US" sz="1800" b="0" i="0" u="none" strike="noStrike" dirty="0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进阶：将任务图转化为主模型可高效利用的结构化信息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28A745">
              <a:alpha val="15000"/>
            </a:srgbClr>
          </a:solidFill>
          <a:ln w="12700" cap="flat" cmpd="sng">
            <a:solidFill>
              <a:srgbClr val="28A74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5143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 任务图不是最终 Prompt，主 LLM 需要的是整理后的任务上下文。 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第4课和第5课的分工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939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30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 · 构建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❓ 核心问题：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任务图怎么长出来？</a:t>
            </a:r>
            <a:endParaRPr lang="en-US" sz="1100"/>
          </a:p>
          <a:p>
            <a:pPr marL="0" indent="0" algn="l">
              <a:lnSpc>
                <a:spcPct val="150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核心输出：</a:t>
            </a: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(系统内部记忆)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9939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1930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 · </a:t>
            </a:r>
            <a:r>
              <a:rPr lang="en-US" sz="2200" b="1" i="0" u="none" strike="noStrike" dirty="0" err="1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477000" y="292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❓ 核心问题：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任务图怎么喂回主 LLM？</a:t>
            </a:r>
            <a:endParaRPr lang="en-US" sz="1100"/>
          </a:p>
          <a:p>
            <a:pPr marL="0" indent="0" algn="l">
              <a:lnSpc>
                <a:spcPct val="150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核心输出：</a:t>
            </a:r>
            <a:r>
              <a:rPr lang="en-US" sz="1800" b="1" i="0" u="none" strike="noStrike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(执行上下文)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39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</a:t>
            </a:r>
            <a:r>
              <a:rPr lang="en-US" sz="2000" b="1" i="0" u="none" strike="noStrike" dirty="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写入</a:t>
            </a:r>
            <a:r>
              <a:rPr lang="en-US" sz="20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任务状态</a:t>
            </a:r>
            <a:r>
              <a:rPr lang="en-US" sz="20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⇄</a:t>
            </a:r>
            <a:r>
              <a:rPr lang="en-US" sz="20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</a:t>
            </a:r>
            <a:r>
              <a:rPr lang="en-US" sz="2000" b="1" i="0" u="none" strike="noStrike" dirty="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读取</a:t>
            </a:r>
            <a:r>
              <a:rPr lang="en-US" sz="2000" b="0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任务状态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 ≠ Prompt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1955800"/>
            <a:ext cx="1168400" cy="1168400"/>
          </a:xfrm>
          <a:prstGeom prst="roundRect">
            <a:avLst>
              <a:gd name="adj" fmla="val 1304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413000" y="1905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结构复杂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非线性，LLM 难以直接理解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18500" b="18500"/>
          <a:stretch>
            <a:fillRect/>
          </a:stretch>
        </p:blipFill>
        <p:spPr>
          <a:xfrm>
            <a:off x="6477000" y="1955800"/>
            <a:ext cx="1168400" cy="1168400"/>
          </a:xfrm>
          <a:prstGeom prst="roundRect">
            <a:avLst>
              <a:gd name="adj" fmla="val 1304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874000" y="1905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状态混杂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有效信息与失效信息并存，难以区分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6000" y="3987800"/>
            <a:ext cx="1168400" cy="1168400"/>
          </a:xfrm>
          <a:prstGeom prst="roundRect">
            <a:avLst>
              <a:gd name="adj" fmla="val 1304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413000" y="3937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没有阅读顺序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缺乏线性逻辑，模型不知道该从哪读起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68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l="150" r="149"/>
          <a:stretch>
            <a:fillRect/>
          </a:stretch>
        </p:blipFill>
        <p:spPr>
          <a:xfrm>
            <a:off x="6477000" y="3987800"/>
            <a:ext cx="1168400" cy="1168400"/>
          </a:xfrm>
          <a:prstGeom prst="roundRect">
            <a:avLst>
              <a:gd name="adj" fmla="val 1304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874000" y="3937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图会越来越大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内容过多，不仅会超出 Token 限制，还会严重干扰注意力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D7E14">
              <a:alpha val="10000"/>
            </a:srgbClr>
          </a:solidFill>
          <a:ln w="25400" cap="flat" cmpd="sng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 是系统内部结构，Context Pack 才是主 LLM 的工作上下文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Builder 是翻译器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2095500" cy="2540000"/>
          </a:xfrm>
          <a:prstGeom prst="roundRect">
            <a:avLst>
              <a:gd name="adj" fmla="val 4848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26035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25500" y="3556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(复杂图结构)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6400" y="3276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365500" y="2286000"/>
            <a:ext cx="2095500" cy="2540000"/>
          </a:xfrm>
          <a:prstGeom prst="roundRect">
            <a:avLst>
              <a:gd name="adj" fmla="val 4848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5900" y="26035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429000" y="3556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Builder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核心加工器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筛选 · 格式化 · 翻译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9900" y="327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969000" y="2286000"/>
            <a:ext cx="2095500" cy="2540000"/>
          </a:xfrm>
          <a:prstGeom prst="roundRect">
            <a:avLst>
              <a:gd name="adj" fmla="val 4848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9400" y="26035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032500" y="3556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Context Pack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结构化产物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(注入 Prompt)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3400" y="3276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72500" y="2286000"/>
            <a:ext cx="2095500" cy="2540000"/>
          </a:xfrm>
          <a:prstGeom prst="roundRect">
            <a:avLst>
              <a:gd name="adj" fmla="val 4848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32900" y="26035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36000" y="3556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主 LLM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任务执行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(理解并生成)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9906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397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它负责把复杂的“图结构”整理成</a:t>
            </a: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“可读、可执行、可注入”</a:t>
            </a:r>
            <a:r>
              <a:rPr lang="en-US" sz="16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的标准化上下文。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Task Context Pack 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 TaskGraph 中整理出来的、供主 LLM 继续执行任务使用的</a:t>
            </a: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结构化上下文包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651000" y="3403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 (Goal)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651000" y="4165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约束 (Constraints)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927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当前决策 (Current Decision)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65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6261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相关事实 (Relevant Facts)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175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77000" y="3556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112000" y="3530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待办事项 (To-Do List)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419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已推翻方案 (Rejected Plans)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533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3086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当前焦点 (Current Focus)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一个最小 Context Pack 应该分哪些区？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29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25500" y="2794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current_focus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当前任务焦点 (核心)</a:t>
            </a:r>
          </a:p>
        </p:txBody>
      </p:sp>
      <p:sp>
        <p:nvSpPr>
          <p:cNvPr id="7" name="AutoShape 7"/>
          <p:cNvSpPr/>
          <p:nvPr/>
        </p:nvSpPr>
        <p:spPr>
          <a:xfrm>
            <a:off x="3492500" y="1778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3400" y="2032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556000" y="2794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goals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期望达成的目标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3900" y="2032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86500" y="2794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限制条件与边界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1778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04400" y="2032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2794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current_decisions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当前已确定的决策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78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95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4196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facts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关键客观事实与状态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394200" y="4191000"/>
            <a:ext cx="3378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11700" y="4445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410200" y="44196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todo_list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待执行的行动清单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026400" y="4191000"/>
            <a:ext cx="33782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43900" y="4445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42400" y="44196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superseded_history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已废弃/推翻的旧方案</a:t>
            </a:r>
          </a:p>
        </p:txBody>
      </p:sp>
      <p:sp>
        <p:nvSpPr>
          <p:cNvPr id="25" name="AutoShape 25"/>
          <p:cNvSpPr/>
          <p:nvPr/>
        </p:nvSpPr>
        <p:spPr>
          <a:xfrm>
            <a:off x="0" y="615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49505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这些字段不是为了好看，而是为了降低主 LLM 误用旧信息的概率。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current_focus：从哪里开始读图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current_focus = 当前这轮主 LLM 要继续处理的节点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746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一个待办任务 (To-do Task)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556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873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3746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一个当前决策 (Current Decision)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14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一个用户新约束 (User Constraint)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270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514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一个正在处理的目标 (Active Goal)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286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没有焦点，就容易把整张图都读出来。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 current_focus 出发读取任务上下文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953000" y="2032000"/>
            <a:ext cx="2286000" cy="1651000"/>
          </a:xfrm>
          <a:prstGeom prst="roundRect">
            <a:avLst>
              <a:gd name="adj" fmla="val 923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715000" y="21590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当前焦点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Current Focus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857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794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依赖的方案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Dependent Solutions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636000" y="2540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6500" y="2857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525000" y="2794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服务的目标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Serving Goals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889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826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相关约束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Constraints &amp; Rules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636000" y="4572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26500" y="4889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25000" y="4826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相关事实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Related Facts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699000" y="4699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9500" y="5016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588000" y="4953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已推翻历史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Overturned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当前有效信息和已推翻信息不能混在一起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352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当前有效 (Active)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3048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状态：方案处于持续使用阶段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存储：统一放入</a:t>
            </a:r>
            <a:r>
              <a:rPr lang="en-US" sz="15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`current_decisions`</a:t>
            </a: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目录/字段</a:t>
            </a:r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逻辑：作为知识库的一部分，主 LLM 可直接依据生成内容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2352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已推翻 (Superseded)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048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状态：</a:t>
            </a:r>
            <a:r>
              <a:rPr lang="en-US" sz="15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不能</a:t>
            </a: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再作为参考方案使用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存储：归档至</a:t>
            </a:r>
            <a:r>
              <a:rPr lang="en-US" sz="15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`superseded_history`</a:t>
            </a: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目录/字段</a:t>
            </a:r>
          </a:p>
          <a:p>
            <a:pPr marL="0"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逻辑：作为负反馈样本，提示主 LLM</a:t>
            </a:r>
            <a:r>
              <a:rPr lang="en-US" sz="15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“必须避开此类方案”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4991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5435600"/>
            <a:ext cx="889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 的关键价值之一：防止模型复用已经失效的方案。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它不是聊天摘要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普通聊天摘要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85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把历史说短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信息模糊，容易丢失关键细节，还原度低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87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线性文本格式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纯自然语言描述，不利于机器自动化处理与解析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889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侧重“记忆”而非行动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易混淆新旧方案，核心回答“刚才聊了什么”，而非下一步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Context Pack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921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85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把任务状态说清楚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9ECE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信息精准，完整保留任务关键要素与上下文逻辑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937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87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结构化字段 (Machine-readable)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9ECE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采用标准化数据结构，支持系统直接解析与利用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953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889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侧重“继续执行”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9ECEF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严格区分 active/superseded 方案，明确回答“接下来要做什么”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 如何进入主 LLM？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Prompt +</a:t>
            </a:r>
            <a:r>
              <a:rPr lang="en-US" sz="2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Context Pack</a:t>
            </a:r>
            <a:r>
              <a:rPr lang="en-US" sz="2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+ 用户最新请求 =</a:t>
            </a:r>
            <a:r>
              <a:rPr lang="en-US" sz="28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主 LLM 的完整输入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用户最新请求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5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06500" y="4953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“现在帮我写 RCON 连接代码”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064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主 LLM 的“内心独白” (Context Pack 驱动)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69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👉 我知道</a:t>
            </a: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要用 RCON (Context Pack 中 Facts 定义了背景)。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👉 我知道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不能回到旧方案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(比如 SSH 方案已在 Superseded 中被标记废弃)。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👉 我知道</a:t>
            </a:r>
            <a:r>
              <a:rPr lang="en-US" sz="12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当前任务目标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是实现服务器连接。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👉 我知道</a:t>
            </a:r>
            <a:r>
              <a:rPr lang="en-US" sz="12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要围绕编写具体代码逻辑推进。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本课要实现什么？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159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核心函数签名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921000"/>
            <a:ext cx="4597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def build_context_pack(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task_graph: Graph,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current_focus_id: str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) -&gt; ContextPack: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# 输入: 结构化的任务图谱 (TaskGraph)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# 输出: 聚焦当前决策的上下文包 (ContextPack)</a:t>
            </a:r>
            <a:b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495057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27800" y="2159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最小功能目标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9210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89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能从任务图中准确读出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 (Goals)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36830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657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读出关键的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约束 (Constraints)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与 事实 (Facts)。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44450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441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识别当前的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决策 (Decisions)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与 待办 (Todo) 项。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5207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5181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最关键：准确识别并区分“已推翻方案 (Superseded)”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三句话总结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TaskGraph 是系统记忆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（存得多）</a:t>
            </a:r>
          </a:p>
          <a:p>
            <a:pPr marL="0"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负责海量任务信息的完整存储与检索，构建系统的“长期记忆”能力。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215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5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Pack 是执行上下文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（拿得精）</a:t>
            </a:r>
          </a:p>
          <a:p>
            <a:pPr marL="0"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基于当前任务需求，精准提取、聚合关键上下文，保障信息的高信噪比。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90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18500" y="215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18500" y="3175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Builder 是翻译器</a:t>
            </a:r>
            <a:endParaRPr lang="en-US" sz="1100"/>
          </a:p>
          <a:p>
            <a:pPr marL="0"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（活儿好）</a:t>
            </a:r>
          </a:p>
          <a:p>
            <a:pPr marL="0"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在存储的记忆与需要的上下文之间建立高效映射，充当两者之间的“翻译官”。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Logic Graph 的价值不是单纯压缩 token，而是组织任务状态，让主 LLM 能稳定地继续工作。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1273</Words>
  <Application>Microsoft Office PowerPoint</Application>
  <PresentationFormat>宽屏</PresentationFormat>
  <Paragraphs>187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海龙 刘</cp:lastModifiedBy>
  <cp:revision>5</cp:revision>
  <dcterms:modified xsi:type="dcterms:W3CDTF">2026-05-25T11:16:48Z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{"Label":"1","ContentProducer":"001191110102MACQD9K64010000","ProduceID":"7643736974500072379","ReservedCode1":"","ContentPropagator":"","PropagateID":"","ReservedCode2":""}</vt:lpwstr>
  </property>
</Properties>
</file>